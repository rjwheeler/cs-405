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hyperlink" Target="https://wiki.sei.cmu.edu/confluence/display/cplusplus/SEI+CERT+C%2B%2B+Coding+Standard" TargetMode="External"/><Relationship Id="rId3" Type="http://schemas.openxmlformats.org/officeDocument/2006/relationships/notesSlide" Target="../notesSlides/notesSlide14.xml"/><Relationship Id="rId7" Type="http://schemas.openxmlformats.org/officeDocument/2006/relationships/hyperlink" Target="https://www.gao.gov/products/gao-18-559"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cheatsheetseries.owasp.org/cheatsheets/SQL_Injection_Prevention_Cheat_Sheet.html" TargetMode="External"/><Relationship Id="rId5" Type="http://schemas.openxmlformats.org/officeDocument/2006/relationships/hyperlink" Target="https://doi.org/10.6028/NIST.SP.800-218" TargetMode="External"/><Relationship Id="rId4" Type="http://schemas.openxmlformats.org/officeDocument/2006/relationships/hyperlink" Target="https://cppcheck.sourceforge.io/manual.html"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Robert Wheeler</a:t>
            </a:r>
            <a:endParaRPr dirty="0"/>
          </a:p>
          <a:p>
            <a:pPr marL="0" lvl="0" indent="0" algn="l" rtl="0">
              <a:lnSpc>
                <a:spcPct val="70000"/>
              </a:lnSpc>
              <a:spcBef>
                <a:spcPts val="1000"/>
              </a:spcBef>
              <a:spcAft>
                <a:spcPts val="0"/>
              </a:spcAft>
              <a:buClr>
                <a:schemeClr val="lt1"/>
              </a:buClr>
              <a:buSzPts val="1850"/>
              <a:buNone/>
            </a:pPr>
            <a:endParaRPr sz="1850" i="1" dirty="0"/>
          </a:p>
          <a:p>
            <a:pPr marL="0" lvl="0" indent="0" algn="l" rtl="0">
              <a:lnSpc>
                <a:spcPct val="70000"/>
              </a:lnSpc>
              <a:spcBef>
                <a:spcPts val="1000"/>
              </a:spcBef>
              <a:spcAft>
                <a:spcPts val="0"/>
              </a:spcAft>
              <a:buSzPts val="1850"/>
              <a:buNone/>
            </a:pPr>
            <a:r>
              <a:rPr lang="en-US" dirty="0"/>
              <a:t>[Complete this template by replacing the bracketed text with the relevant information.]</a:t>
            </a:r>
            <a:endParaRPr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1322832" y="639317"/>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183418" y="2194558"/>
            <a:ext cx="5334000" cy="4024125"/>
          </a:xfrm>
          <a:prstGeom prst="rect">
            <a:avLst/>
          </a:prstGeom>
          <a:noFill/>
          <a:ln>
            <a:noFill/>
          </a:ln>
        </p:spPr>
        <p:txBody>
          <a:bodyPr spcFirstLastPara="1" wrap="square" lIns="91425" tIns="45700" rIns="91425" bIns="45700" anchor="t" anchorCtr="0">
            <a:normAutofit fontScale="70000" lnSpcReduction="20000"/>
          </a:bodyPr>
          <a:lstStyle/>
          <a:p>
            <a:r>
              <a:rPr lang="en-US" b="1" dirty="0"/>
              <a:t>Purpose of the Green Pace Security Policy</a:t>
            </a:r>
            <a:endParaRPr lang="en-US" dirty="0"/>
          </a:p>
          <a:p>
            <a:pPr lvl="0"/>
            <a:r>
              <a:rPr lang="en-US" dirty="0"/>
              <a:t>Establish consistent security practices for all developers.</a:t>
            </a:r>
          </a:p>
          <a:p>
            <a:pPr lvl="0"/>
            <a:r>
              <a:rPr lang="en-US" dirty="0"/>
              <a:t>Reduce vulnerabilities in software and system architecture.</a:t>
            </a:r>
          </a:p>
          <a:p>
            <a:pPr lvl="0"/>
            <a:r>
              <a:rPr lang="en-US" dirty="0"/>
              <a:t>Standardize secure coding, testing, and remediation procedures.</a:t>
            </a:r>
          </a:p>
          <a:p>
            <a:pPr lvl="0"/>
            <a:r>
              <a:rPr lang="en-US" dirty="0"/>
              <a:t>Support defense in depth through multiple layers of protection.</a:t>
            </a:r>
          </a:p>
          <a:p>
            <a:r>
              <a:rPr lang="en-US" b="1" dirty="0"/>
              <a:t>Defense-in-Depth Layers</a:t>
            </a:r>
            <a:endParaRPr lang="en-US" dirty="0"/>
          </a:p>
          <a:p>
            <a:pPr lvl="0"/>
            <a:r>
              <a:rPr lang="en-US" dirty="0"/>
              <a:t>Secure coding standards</a:t>
            </a:r>
          </a:p>
          <a:p>
            <a:pPr lvl="0"/>
            <a:r>
              <a:rPr lang="en-US" dirty="0"/>
              <a:t>Code reviews and compiler warnings</a:t>
            </a:r>
          </a:p>
          <a:p>
            <a:pPr lvl="0"/>
            <a:r>
              <a:rPr lang="en-US" dirty="0"/>
              <a:t>Static analysis and unit testing</a:t>
            </a:r>
          </a:p>
          <a:p>
            <a:pPr lvl="0"/>
            <a:r>
              <a:rPr lang="en-US" dirty="0"/>
              <a:t>Encryption and access controls</a:t>
            </a:r>
          </a:p>
          <a:p>
            <a:pPr lvl="0"/>
            <a:r>
              <a:rPr lang="en-US" dirty="0"/>
              <a:t>Monitoring, auditing, and incident response</a:t>
            </a:r>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5517418" y="2308023"/>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1549401" y="0"/>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THREATS MATRIX</a:t>
            </a:r>
            <a:endParaRPr dirty="0"/>
          </a:p>
        </p:txBody>
      </p:sp>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10" name="Table 9">
            <a:extLst>
              <a:ext uri="{FF2B5EF4-FFF2-40B4-BE49-F238E27FC236}">
                <a16:creationId xmlns:a16="http://schemas.microsoft.com/office/drawing/2014/main" id="{99823D73-D98C-1AAD-F9E4-87C6E135DCC5}"/>
              </a:ext>
            </a:extLst>
          </p:cNvPr>
          <p:cNvGraphicFramePr>
            <a:graphicFrameLocks noGrp="1"/>
          </p:cNvGraphicFramePr>
          <p:nvPr>
            <p:extLst>
              <p:ext uri="{D42A27DB-BD31-4B8C-83A1-F6EECF244321}">
                <p14:modId xmlns:p14="http://schemas.microsoft.com/office/powerpoint/2010/main" val="911845024"/>
              </p:ext>
            </p:extLst>
          </p:nvPr>
        </p:nvGraphicFramePr>
        <p:xfrm>
          <a:off x="1931415" y="1015326"/>
          <a:ext cx="8128002" cy="5461000"/>
        </p:xfrm>
        <a:graphic>
          <a:graphicData uri="http://schemas.openxmlformats.org/drawingml/2006/table">
            <a:tbl>
              <a:tblPr firstRow="1" bandRow="1">
                <a:tableStyleId>{802198C4-3087-4945-87E3-76CBB3509B7E}</a:tableStyleId>
              </a:tblPr>
              <a:tblGrid>
                <a:gridCol w="1354667">
                  <a:extLst>
                    <a:ext uri="{9D8B030D-6E8A-4147-A177-3AD203B41FA5}">
                      <a16:colId xmlns:a16="http://schemas.microsoft.com/office/drawing/2014/main" val="3928411887"/>
                    </a:ext>
                  </a:extLst>
                </a:gridCol>
                <a:gridCol w="1354667">
                  <a:extLst>
                    <a:ext uri="{9D8B030D-6E8A-4147-A177-3AD203B41FA5}">
                      <a16:colId xmlns:a16="http://schemas.microsoft.com/office/drawing/2014/main" val="4088863823"/>
                    </a:ext>
                  </a:extLst>
                </a:gridCol>
                <a:gridCol w="1354667">
                  <a:extLst>
                    <a:ext uri="{9D8B030D-6E8A-4147-A177-3AD203B41FA5}">
                      <a16:colId xmlns:a16="http://schemas.microsoft.com/office/drawing/2014/main" val="1216644133"/>
                    </a:ext>
                  </a:extLst>
                </a:gridCol>
                <a:gridCol w="1354667">
                  <a:extLst>
                    <a:ext uri="{9D8B030D-6E8A-4147-A177-3AD203B41FA5}">
                      <a16:colId xmlns:a16="http://schemas.microsoft.com/office/drawing/2014/main" val="1281873967"/>
                    </a:ext>
                  </a:extLst>
                </a:gridCol>
                <a:gridCol w="1354667">
                  <a:extLst>
                    <a:ext uri="{9D8B030D-6E8A-4147-A177-3AD203B41FA5}">
                      <a16:colId xmlns:a16="http://schemas.microsoft.com/office/drawing/2014/main" val="1880248644"/>
                    </a:ext>
                  </a:extLst>
                </a:gridCol>
                <a:gridCol w="1354667">
                  <a:extLst>
                    <a:ext uri="{9D8B030D-6E8A-4147-A177-3AD203B41FA5}">
                      <a16:colId xmlns:a16="http://schemas.microsoft.com/office/drawing/2014/main" val="2326214403"/>
                    </a:ext>
                  </a:extLst>
                </a:gridCol>
              </a:tblGrid>
              <a:tr h="370840">
                <a:tc>
                  <a:txBody>
                    <a:bodyPr/>
                    <a:lstStyle/>
                    <a:p>
                      <a:pPr>
                        <a:buNone/>
                      </a:pPr>
                      <a:r>
                        <a:rPr lang="en-US" dirty="0">
                          <a:solidFill>
                            <a:schemeClr val="bg1"/>
                          </a:solidFill>
                        </a:rPr>
                        <a:t>STD-004-SQL</a:t>
                      </a:r>
                    </a:p>
                  </a:txBody>
                  <a:tcPr anchor="ctr"/>
                </a:tc>
                <a:tc>
                  <a:txBody>
                    <a:bodyPr/>
                    <a:lstStyle/>
                    <a:p>
                      <a:pPr>
                        <a:buNone/>
                      </a:pPr>
                      <a:r>
                        <a:rPr lang="en-US">
                          <a:solidFill>
                            <a:schemeClr val="bg1"/>
                          </a:solidFill>
                        </a:rPr>
                        <a:t>SQL injection</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Medium</a:t>
                      </a:r>
                    </a:p>
                  </a:txBody>
                  <a:tcPr anchor="ctr"/>
                </a:tc>
                <a:tc>
                  <a:txBody>
                    <a:bodyPr/>
                    <a:lstStyle/>
                    <a:p>
                      <a:pPr>
                        <a:buNone/>
                      </a:pPr>
                      <a:r>
                        <a:rPr lang="en-US" dirty="0">
                          <a:solidFill>
                            <a:schemeClr val="bg1"/>
                          </a:solidFill>
                        </a:rPr>
                        <a:t>1</a:t>
                      </a:r>
                    </a:p>
                  </a:txBody>
                  <a:tcPr anchor="ctr"/>
                </a:tc>
                <a:extLst>
                  <a:ext uri="{0D108BD9-81ED-4DB2-BD59-A6C34878D82A}">
                    <a16:rowId xmlns:a16="http://schemas.microsoft.com/office/drawing/2014/main" val="2236089439"/>
                  </a:ext>
                </a:extLst>
              </a:tr>
              <a:tr h="370840">
                <a:tc>
                  <a:txBody>
                    <a:bodyPr/>
                    <a:lstStyle/>
                    <a:p>
                      <a:pPr>
                        <a:buNone/>
                      </a:pPr>
                      <a:r>
                        <a:rPr lang="en-US" dirty="0">
                          <a:solidFill>
                            <a:schemeClr val="bg1"/>
                          </a:solidFill>
                        </a:rPr>
                        <a:t>STD-005-MEM</a:t>
                      </a:r>
                    </a:p>
                  </a:txBody>
                  <a:tcPr anchor="ctr"/>
                </a:tc>
                <a:tc>
                  <a:txBody>
                    <a:bodyPr/>
                    <a:lstStyle/>
                    <a:p>
                      <a:pPr>
                        <a:buNone/>
                      </a:pPr>
                      <a:r>
                        <a:rPr lang="en-US">
                          <a:solidFill>
                            <a:schemeClr val="bg1"/>
                          </a:solidFill>
                        </a:rPr>
                        <a:t>Memory and bounds errors</a:t>
                      </a:r>
                    </a:p>
                  </a:txBody>
                  <a:tcPr anchor="ctr"/>
                </a:tc>
                <a:tc>
                  <a:txBody>
                    <a:bodyPr/>
                    <a:lstStyle/>
                    <a:p>
                      <a:pPr>
                        <a:buNone/>
                      </a:pPr>
                      <a:r>
                        <a:rPr lang="en-US" dirty="0">
                          <a:solidFill>
                            <a:schemeClr val="bg1"/>
                          </a:solidFill>
                        </a:rPr>
                        <a:t>High</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Medium–High</a:t>
                      </a:r>
                    </a:p>
                  </a:txBody>
                  <a:tcPr anchor="ctr"/>
                </a:tc>
                <a:tc>
                  <a:txBody>
                    <a:bodyPr/>
                    <a:lstStyle/>
                    <a:p>
                      <a:pPr>
                        <a:buNone/>
                      </a:pPr>
                      <a:r>
                        <a:rPr lang="en-US">
                          <a:solidFill>
                            <a:schemeClr val="bg1"/>
                          </a:solidFill>
                        </a:rPr>
                        <a:t>2</a:t>
                      </a:r>
                    </a:p>
                  </a:txBody>
                  <a:tcPr anchor="ctr"/>
                </a:tc>
                <a:extLst>
                  <a:ext uri="{0D108BD9-81ED-4DB2-BD59-A6C34878D82A}">
                    <a16:rowId xmlns:a16="http://schemas.microsoft.com/office/drawing/2014/main" val="667844983"/>
                  </a:ext>
                </a:extLst>
              </a:tr>
              <a:tr h="370840">
                <a:tc>
                  <a:txBody>
                    <a:bodyPr/>
                    <a:lstStyle/>
                    <a:p>
                      <a:pPr>
                        <a:buNone/>
                      </a:pPr>
                      <a:r>
                        <a:rPr lang="en-US">
                          <a:solidFill>
                            <a:schemeClr val="bg1"/>
                          </a:solidFill>
                        </a:rPr>
                        <a:t>STD-008-PTR</a:t>
                      </a:r>
                    </a:p>
                  </a:txBody>
                  <a:tcPr anchor="ctr"/>
                </a:tc>
                <a:tc>
                  <a:txBody>
                    <a:bodyPr/>
                    <a:lstStyle/>
                    <a:p>
                      <a:pPr>
                        <a:buNone/>
                      </a:pPr>
                      <a:r>
                        <a:rPr lang="en-US">
                          <a:solidFill>
                            <a:schemeClr val="bg1"/>
                          </a:solidFill>
                        </a:rPr>
                        <a:t>Invalid or null pointers</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Medium–High</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3</a:t>
                      </a:r>
                    </a:p>
                  </a:txBody>
                  <a:tcPr anchor="ctr"/>
                </a:tc>
                <a:extLst>
                  <a:ext uri="{0D108BD9-81ED-4DB2-BD59-A6C34878D82A}">
                    <a16:rowId xmlns:a16="http://schemas.microsoft.com/office/drawing/2014/main" val="3470255713"/>
                  </a:ext>
                </a:extLst>
              </a:tr>
              <a:tr h="370840">
                <a:tc>
                  <a:txBody>
                    <a:bodyPr/>
                    <a:lstStyle/>
                    <a:p>
                      <a:pPr>
                        <a:buNone/>
                      </a:pPr>
                      <a:r>
                        <a:rPr lang="en-US">
                          <a:solidFill>
                            <a:schemeClr val="bg1"/>
                          </a:solidFill>
                        </a:rPr>
                        <a:t>STD-009-DYN</a:t>
                      </a:r>
                    </a:p>
                  </a:txBody>
                  <a:tcPr anchor="ctr"/>
                </a:tc>
                <a:tc>
                  <a:txBody>
                    <a:bodyPr/>
                    <a:lstStyle/>
                    <a:p>
                      <a:pPr>
                        <a:buNone/>
                      </a:pPr>
                      <a:r>
                        <a:rPr lang="en-US">
                          <a:solidFill>
                            <a:schemeClr val="bg1"/>
                          </a:solidFill>
                        </a:rPr>
                        <a:t>Dynamic memory management</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Medium–High</a:t>
                      </a:r>
                    </a:p>
                  </a:txBody>
                  <a:tcPr anchor="ctr"/>
                </a:tc>
                <a:tc>
                  <a:txBody>
                    <a:bodyPr/>
                    <a:lstStyle/>
                    <a:p>
                      <a:pPr>
                        <a:buNone/>
                      </a:pPr>
                      <a:r>
                        <a:rPr lang="en-US">
                          <a:solidFill>
                            <a:schemeClr val="bg1"/>
                          </a:solidFill>
                        </a:rPr>
                        <a:t>4</a:t>
                      </a:r>
                    </a:p>
                  </a:txBody>
                  <a:tcPr anchor="ctr"/>
                </a:tc>
                <a:extLst>
                  <a:ext uri="{0D108BD9-81ED-4DB2-BD59-A6C34878D82A}">
                    <a16:rowId xmlns:a16="http://schemas.microsoft.com/office/drawing/2014/main" val="479568807"/>
                  </a:ext>
                </a:extLst>
              </a:tr>
              <a:tr h="370840">
                <a:tc>
                  <a:txBody>
                    <a:bodyPr/>
                    <a:lstStyle/>
                    <a:p>
                      <a:pPr>
                        <a:buNone/>
                      </a:pPr>
                      <a:r>
                        <a:rPr lang="en-US">
                          <a:solidFill>
                            <a:schemeClr val="bg1"/>
                          </a:solidFill>
                        </a:rPr>
                        <a:t>STD-003-STR</a:t>
                      </a:r>
                    </a:p>
                  </a:txBody>
                  <a:tcPr anchor="ctr"/>
                </a:tc>
                <a:tc>
                  <a:txBody>
                    <a:bodyPr/>
                    <a:lstStyle/>
                    <a:p>
                      <a:pPr>
                        <a:buNone/>
                      </a:pPr>
                      <a:r>
                        <a:rPr lang="en-US">
                          <a:solidFill>
                            <a:schemeClr val="bg1"/>
                          </a:solidFill>
                        </a:rPr>
                        <a:t>Unsafe string handling</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5</a:t>
                      </a:r>
                    </a:p>
                  </a:txBody>
                  <a:tcPr anchor="ctr"/>
                </a:tc>
                <a:extLst>
                  <a:ext uri="{0D108BD9-81ED-4DB2-BD59-A6C34878D82A}">
                    <a16:rowId xmlns:a16="http://schemas.microsoft.com/office/drawing/2014/main" val="3626791274"/>
                  </a:ext>
                </a:extLst>
              </a:tr>
              <a:tr h="370840">
                <a:tc>
                  <a:txBody>
                    <a:bodyPr/>
                    <a:lstStyle/>
                    <a:p>
                      <a:pPr>
                        <a:buNone/>
                      </a:pPr>
                      <a:r>
                        <a:rPr lang="en-US">
                          <a:solidFill>
                            <a:schemeClr val="bg1"/>
                          </a:solidFill>
                        </a:rPr>
                        <a:t>STD-010-RNG</a:t>
                      </a:r>
                    </a:p>
                  </a:txBody>
                  <a:tcPr anchor="ctr"/>
                </a:tc>
                <a:tc>
                  <a:txBody>
                    <a:bodyPr/>
                    <a:lstStyle/>
                    <a:p>
                      <a:pPr>
                        <a:buNone/>
                      </a:pPr>
                      <a:r>
                        <a:rPr lang="en-US">
                          <a:solidFill>
                            <a:schemeClr val="bg1"/>
                          </a:solidFill>
                        </a:rPr>
                        <a:t>Weak security randomness</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Low–Medium</a:t>
                      </a:r>
                    </a:p>
                  </a:txBody>
                  <a:tcPr anchor="ctr"/>
                </a:tc>
                <a:tc>
                  <a:txBody>
                    <a:bodyPr/>
                    <a:lstStyle/>
                    <a:p>
                      <a:pPr>
                        <a:buNone/>
                      </a:pPr>
                      <a:r>
                        <a:rPr lang="en-US">
                          <a:solidFill>
                            <a:schemeClr val="bg1"/>
                          </a:solidFill>
                        </a:rPr>
                        <a:t>6</a:t>
                      </a:r>
                    </a:p>
                  </a:txBody>
                  <a:tcPr anchor="ctr"/>
                </a:tc>
                <a:extLst>
                  <a:ext uri="{0D108BD9-81ED-4DB2-BD59-A6C34878D82A}">
                    <a16:rowId xmlns:a16="http://schemas.microsoft.com/office/drawing/2014/main" val="3700508869"/>
                  </a:ext>
                </a:extLst>
              </a:tr>
              <a:tr h="370840">
                <a:tc>
                  <a:txBody>
                    <a:bodyPr/>
                    <a:lstStyle/>
                    <a:p>
                      <a:pPr>
                        <a:buNone/>
                      </a:pPr>
                      <a:r>
                        <a:rPr lang="en-US">
                          <a:solidFill>
                            <a:schemeClr val="bg1"/>
                          </a:solidFill>
                        </a:rPr>
                        <a:t>STD-007-EXC</a:t>
                      </a:r>
                    </a:p>
                  </a:txBody>
                  <a:tcPr anchor="ctr"/>
                </a:tc>
                <a:tc>
                  <a:txBody>
                    <a:bodyPr/>
                    <a:lstStyle/>
                    <a:p>
                      <a:pPr>
                        <a:buNone/>
                      </a:pPr>
                      <a:r>
                        <a:rPr lang="en-US">
                          <a:solidFill>
                            <a:schemeClr val="bg1"/>
                          </a:solidFill>
                        </a:rPr>
                        <a:t>Exception-handling errors</a:t>
                      </a:r>
                    </a:p>
                  </a:txBody>
                  <a:tcPr anchor="ctr"/>
                </a:tc>
                <a:tc>
                  <a:txBody>
                    <a:bodyPr/>
                    <a:lstStyle/>
                    <a:p>
                      <a:pPr>
                        <a:buNone/>
                      </a:pPr>
                      <a:r>
                        <a:rPr lang="en-US">
                          <a:solidFill>
                            <a:schemeClr val="bg1"/>
                          </a:solidFill>
                        </a:rPr>
                        <a:t>Medium–High</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Low–Medium</a:t>
                      </a:r>
                    </a:p>
                  </a:txBody>
                  <a:tcPr anchor="ctr"/>
                </a:tc>
                <a:tc>
                  <a:txBody>
                    <a:bodyPr/>
                    <a:lstStyle/>
                    <a:p>
                      <a:pPr>
                        <a:buNone/>
                      </a:pPr>
                      <a:r>
                        <a:rPr lang="en-US">
                          <a:solidFill>
                            <a:schemeClr val="bg1"/>
                          </a:solidFill>
                        </a:rPr>
                        <a:t>7</a:t>
                      </a:r>
                    </a:p>
                  </a:txBody>
                  <a:tcPr anchor="ctr"/>
                </a:tc>
                <a:extLst>
                  <a:ext uri="{0D108BD9-81ED-4DB2-BD59-A6C34878D82A}">
                    <a16:rowId xmlns:a16="http://schemas.microsoft.com/office/drawing/2014/main" val="1477654232"/>
                  </a:ext>
                </a:extLst>
              </a:tr>
              <a:tr h="370840">
                <a:tc>
                  <a:txBody>
                    <a:bodyPr/>
                    <a:lstStyle/>
                    <a:p>
                      <a:pPr>
                        <a:buNone/>
                      </a:pPr>
                      <a:r>
                        <a:rPr lang="en-US">
                          <a:solidFill>
                            <a:schemeClr val="bg1"/>
                          </a:solidFill>
                        </a:rPr>
                        <a:t>STD-002-VAL</a:t>
                      </a:r>
                    </a:p>
                  </a:txBody>
                  <a:tcPr anchor="ctr"/>
                </a:tc>
                <a:tc>
                  <a:txBody>
                    <a:bodyPr/>
                    <a:lstStyle/>
                    <a:p>
                      <a:pPr>
                        <a:buNone/>
                      </a:pPr>
                      <a:r>
                        <a:rPr lang="en-US">
                          <a:solidFill>
                            <a:schemeClr val="bg1"/>
                          </a:solidFill>
                        </a:rPr>
                        <a:t>Invalid data values</a:t>
                      </a:r>
                    </a:p>
                  </a:txBody>
                  <a:tcPr anchor="ctr"/>
                </a:tc>
                <a:tc>
                  <a:txBody>
                    <a:bodyPr/>
                    <a:lstStyle/>
                    <a:p>
                      <a:pPr>
                        <a:buNone/>
                      </a:pPr>
                      <a:r>
                        <a:rPr lang="en-US">
                          <a:solidFill>
                            <a:schemeClr val="bg1"/>
                          </a:solidFill>
                        </a:rPr>
                        <a:t>High</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8</a:t>
                      </a:r>
                    </a:p>
                  </a:txBody>
                  <a:tcPr anchor="ctr"/>
                </a:tc>
                <a:extLst>
                  <a:ext uri="{0D108BD9-81ED-4DB2-BD59-A6C34878D82A}">
                    <a16:rowId xmlns:a16="http://schemas.microsoft.com/office/drawing/2014/main" val="2018482875"/>
                  </a:ext>
                </a:extLst>
              </a:tr>
              <a:tr h="370840">
                <a:tc>
                  <a:txBody>
                    <a:bodyPr/>
                    <a:lstStyle/>
                    <a:p>
                      <a:pPr>
                        <a:buNone/>
                      </a:pPr>
                      <a:r>
                        <a:rPr lang="en-US">
                          <a:solidFill>
                            <a:schemeClr val="bg1"/>
                          </a:solidFill>
                        </a:rPr>
                        <a:t>STD-001-TYP</a:t>
                      </a:r>
                    </a:p>
                  </a:txBody>
                  <a:tcPr anchor="ctr"/>
                </a:tc>
                <a:tc>
                  <a:txBody>
                    <a:bodyPr/>
                    <a:lstStyle/>
                    <a:p>
                      <a:pPr>
                        <a:buNone/>
                      </a:pPr>
                      <a:r>
                        <a:rPr lang="en-US">
                          <a:solidFill>
                            <a:schemeClr val="bg1"/>
                          </a:solidFill>
                        </a:rPr>
                        <a:t>Unsafe data types</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Low</a:t>
                      </a:r>
                    </a:p>
                  </a:txBody>
                  <a:tcPr anchor="ctr"/>
                </a:tc>
                <a:tc>
                  <a:txBody>
                    <a:bodyPr/>
                    <a:lstStyle/>
                    <a:p>
                      <a:pPr>
                        <a:buNone/>
                      </a:pPr>
                      <a:r>
                        <a:rPr lang="en-US">
                          <a:solidFill>
                            <a:schemeClr val="bg1"/>
                          </a:solidFill>
                        </a:rPr>
                        <a:t>9</a:t>
                      </a:r>
                    </a:p>
                  </a:txBody>
                  <a:tcPr anchor="ctr"/>
                </a:tc>
                <a:extLst>
                  <a:ext uri="{0D108BD9-81ED-4DB2-BD59-A6C34878D82A}">
                    <a16:rowId xmlns:a16="http://schemas.microsoft.com/office/drawing/2014/main" val="3320662985"/>
                  </a:ext>
                </a:extLst>
              </a:tr>
              <a:tr h="370840">
                <a:tc>
                  <a:txBody>
                    <a:bodyPr/>
                    <a:lstStyle/>
                    <a:p>
                      <a:pPr>
                        <a:buNone/>
                      </a:pPr>
                      <a:r>
                        <a:rPr lang="en-US">
                          <a:solidFill>
                            <a:schemeClr val="bg1"/>
                          </a:solidFill>
                        </a:rPr>
                        <a:t>STD-006-AST</a:t>
                      </a:r>
                    </a:p>
                  </a:txBody>
                  <a:tcPr anchor="ctr"/>
                </a:tc>
                <a:tc>
                  <a:txBody>
                    <a:bodyPr/>
                    <a:lstStyle/>
                    <a:p>
                      <a:pPr>
                        <a:buNone/>
                      </a:pPr>
                      <a:r>
                        <a:rPr lang="en-US">
                          <a:solidFill>
                            <a:schemeClr val="bg1"/>
                          </a:solidFill>
                        </a:rPr>
                        <a:t>Misused assertions</a:t>
                      </a:r>
                    </a:p>
                  </a:txBody>
                  <a:tcPr anchor="ctr"/>
                </a:tc>
                <a:tc>
                  <a:txBody>
                    <a:bodyPr/>
                    <a:lstStyle/>
                    <a:p>
                      <a:pPr>
                        <a:buNone/>
                      </a:pPr>
                      <a:r>
                        <a:rPr lang="en-US">
                          <a:solidFill>
                            <a:schemeClr val="bg1"/>
                          </a:solidFill>
                        </a:rPr>
                        <a:t>Medium</a:t>
                      </a:r>
                    </a:p>
                  </a:txBody>
                  <a:tcPr anchor="ctr"/>
                </a:tc>
                <a:tc>
                  <a:txBody>
                    <a:bodyPr/>
                    <a:lstStyle/>
                    <a:p>
                      <a:pPr>
                        <a:buNone/>
                      </a:pPr>
                      <a:r>
                        <a:rPr lang="en-US">
                          <a:solidFill>
                            <a:schemeClr val="bg1"/>
                          </a:solidFill>
                        </a:rPr>
                        <a:t>Low–Medium</a:t>
                      </a:r>
                    </a:p>
                  </a:txBody>
                  <a:tcPr anchor="ctr"/>
                </a:tc>
                <a:tc>
                  <a:txBody>
                    <a:bodyPr/>
                    <a:lstStyle/>
                    <a:p>
                      <a:pPr>
                        <a:buNone/>
                      </a:pPr>
                      <a:r>
                        <a:rPr lang="en-US">
                          <a:solidFill>
                            <a:schemeClr val="bg1"/>
                          </a:solidFill>
                        </a:rPr>
                        <a:t>Low</a:t>
                      </a:r>
                    </a:p>
                  </a:txBody>
                  <a:tcPr anchor="ctr"/>
                </a:tc>
                <a:tc>
                  <a:txBody>
                    <a:bodyPr/>
                    <a:lstStyle/>
                    <a:p>
                      <a:pPr>
                        <a:buNone/>
                      </a:pPr>
                      <a:r>
                        <a:rPr lang="en-US" dirty="0">
                          <a:solidFill>
                            <a:schemeClr val="bg1"/>
                          </a:solidFill>
                        </a:rPr>
                        <a:t>10</a:t>
                      </a:r>
                    </a:p>
                  </a:txBody>
                  <a:tcPr anchor="ctr"/>
                </a:tc>
                <a:extLst>
                  <a:ext uri="{0D108BD9-81ED-4DB2-BD59-A6C34878D82A}">
                    <a16:rowId xmlns:a16="http://schemas.microsoft.com/office/drawing/2014/main" val="1882482994"/>
                  </a:ext>
                </a:extLst>
              </a:tr>
            </a:tbl>
          </a:graphicData>
        </a:graphic>
      </p:graphicFrame>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1679448" y="0"/>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574548" y="1097280"/>
            <a:ext cx="10820400" cy="5294376"/>
          </a:xfrm>
          <a:prstGeom prst="rect">
            <a:avLst/>
          </a:prstGeom>
          <a:noFill/>
          <a:ln>
            <a:noFill/>
          </a:ln>
        </p:spPr>
        <p:txBody>
          <a:bodyPr spcFirstLastPara="1" wrap="square" lIns="91425" tIns="45700" rIns="91425" bIns="45700" anchor="t" anchorCtr="0">
            <a:normAutofit fontScale="85000" lnSpcReduction="20000"/>
          </a:bodyPr>
          <a:lstStyle/>
          <a:p>
            <a:pPr lvl="0"/>
            <a:r>
              <a:rPr lang="en-US" b="1" dirty="0"/>
              <a:t>Validate Input and Data</a:t>
            </a:r>
            <a:r>
              <a:rPr lang="en-US" dirty="0"/>
              <a:t> — STD-002-VAL: Data Values; STD-004-SQL: SQL Injection</a:t>
            </a:r>
          </a:p>
          <a:p>
            <a:pPr lvl="0"/>
            <a:r>
              <a:rPr lang="en-US" b="1" dirty="0"/>
              <a:t>Heed Compiler Warnings</a:t>
            </a:r>
            <a:r>
              <a:rPr lang="en-US" dirty="0"/>
              <a:t> — STD-006-AST: Assertions; STD-007-EXC: Exception Handling</a:t>
            </a:r>
          </a:p>
          <a:p>
            <a:pPr lvl="0"/>
            <a:r>
              <a:rPr lang="en-US" b="1" dirty="0"/>
              <a:t>Design with Security in Mind</a:t>
            </a:r>
            <a:r>
              <a:rPr lang="en-US" dirty="0"/>
              <a:t> — STD-001-TYP: Data Types; STD-005-MEM: Memory Protection</a:t>
            </a:r>
          </a:p>
          <a:p>
            <a:pPr lvl="0"/>
            <a:r>
              <a:rPr lang="en-US" b="1" dirty="0"/>
              <a:t>Keep It Simple</a:t>
            </a:r>
            <a:r>
              <a:rPr lang="en-US" dirty="0"/>
              <a:t> — STD-003-STR: String Handling; STD-009-DYN: Dynamic Memory Management</a:t>
            </a:r>
          </a:p>
          <a:p>
            <a:pPr lvl="0"/>
            <a:r>
              <a:rPr lang="en-US" b="1" dirty="0"/>
              <a:t>Principle of Least Privilege</a:t>
            </a:r>
            <a:r>
              <a:rPr lang="en-US" dirty="0"/>
              <a:t> — STD-005-MEM: Memory Protection; STD-008-PTR: Pointer Safety</a:t>
            </a:r>
          </a:p>
          <a:p>
            <a:pPr lvl="0"/>
            <a:r>
              <a:rPr lang="en-US" b="1" dirty="0"/>
              <a:t>Secure Defaults</a:t>
            </a:r>
            <a:r>
              <a:rPr lang="en-US" dirty="0"/>
              <a:t> — STD-001-TYP: Data Types; STD-010-RNG: Secure Random Number Generation</a:t>
            </a:r>
          </a:p>
          <a:p>
            <a:pPr lvl="0"/>
            <a:r>
              <a:rPr lang="en-US" b="1" dirty="0"/>
              <a:t>Sanitize Data Sent to Other Systems</a:t>
            </a:r>
            <a:r>
              <a:rPr lang="en-US" dirty="0"/>
              <a:t> — STD-002-VAL: Data Values; STD-004-SQL: SQL Injection</a:t>
            </a:r>
          </a:p>
          <a:p>
            <a:pPr lvl="0"/>
            <a:r>
              <a:rPr lang="en-US" b="1" dirty="0"/>
              <a:t>Defense in Depth</a:t>
            </a:r>
            <a:r>
              <a:rPr lang="en-US" dirty="0"/>
              <a:t> — STD-004-SQL: SQL Injection; STD-005-MEM: Memory Protection; STD-010-RNG: Secure Random Number Generation</a:t>
            </a:r>
          </a:p>
          <a:p>
            <a:pPr lvl="0"/>
            <a:r>
              <a:rPr lang="en-US" b="1" dirty="0"/>
              <a:t>Establish Effective Quality Assurance</a:t>
            </a:r>
            <a:r>
              <a:rPr lang="en-US" dirty="0"/>
              <a:t> — STD-006-AST: Assertions; STD-007-EXC: Exception Handling; STD-008-PTR: Pointer Safety</a:t>
            </a:r>
          </a:p>
          <a:p>
            <a:pPr lvl="0"/>
            <a:r>
              <a:rPr lang="en-US" b="1" dirty="0"/>
              <a:t>Adopt a Secure Coding Standard</a:t>
            </a:r>
            <a:r>
              <a:rPr lang="en-US" dirty="0"/>
              <a:t> — All ten standards: STD-001-TYP through STD-010-RNG</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1716024" y="0"/>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CODING STANDARDS</a:t>
            </a:r>
            <a:endParaRPr dirty="0"/>
          </a:p>
        </p:txBody>
      </p:sp>
      <p:sp>
        <p:nvSpPr>
          <p:cNvPr id="175" name="Google Shape;175;p6"/>
          <p:cNvSpPr txBox="1">
            <a:spLocks noGrp="1"/>
          </p:cNvSpPr>
          <p:nvPr>
            <p:ph type="body" idx="1"/>
          </p:nvPr>
        </p:nvSpPr>
        <p:spPr>
          <a:xfrm>
            <a:off x="411480" y="996696"/>
            <a:ext cx="10820400" cy="5696712"/>
          </a:xfrm>
          <a:prstGeom prst="rect">
            <a:avLst/>
          </a:prstGeom>
          <a:noFill/>
          <a:ln>
            <a:noFill/>
          </a:ln>
        </p:spPr>
        <p:txBody>
          <a:bodyPr spcFirstLastPara="1" wrap="square" lIns="91425" tIns="45700" rIns="91425" bIns="45700" anchor="t" anchorCtr="0">
            <a:normAutofit/>
          </a:bodyPr>
          <a:lstStyle/>
          <a:p>
            <a:pPr lvl="0"/>
            <a:r>
              <a:rPr lang="en-US" sz="2000" dirty="0"/>
              <a:t>STD-001-TYP — Data Types</a:t>
            </a:r>
          </a:p>
          <a:p>
            <a:pPr lvl="0"/>
            <a:r>
              <a:rPr lang="en-US" sz="2000" dirty="0"/>
              <a:t>STD-002-VAL — Data Values</a:t>
            </a:r>
          </a:p>
          <a:p>
            <a:pPr lvl="0"/>
            <a:r>
              <a:rPr lang="en-US" sz="2000" dirty="0"/>
              <a:t>STD-003-STR — String Handling</a:t>
            </a:r>
          </a:p>
          <a:p>
            <a:pPr lvl="0"/>
            <a:r>
              <a:rPr lang="en-US" sz="2000" dirty="0"/>
              <a:t>STD-004-SQL — SQL Injection Prevention</a:t>
            </a:r>
          </a:p>
          <a:p>
            <a:pPr lvl="0"/>
            <a:r>
              <a:rPr lang="en-US" sz="2000" dirty="0"/>
              <a:t>STD-005-MEM — Memory Protection</a:t>
            </a:r>
          </a:p>
          <a:p>
            <a:pPr lvl="0"/>
            <a:r>
              <a:rPr lang="en-US" sz="2000" dirty="0"/>
              <a:t>STD-006-AST — Assertions</a:t>
            </a:r>
          </a:p>
          <a:p>
            <a:pPr lvl="0"/>
            <a:r>
              <a:rPr lang="en-US" sz="2000" dirty="0"/>
              <a:t>STD-007-EXC — Exception Handling</a:t>
            </a:r>
          </a:p>
          <a:p>
            <a:pPr lvl="0"/>
            <a:r>
              <a:rPr lang="en-US" sz="2000" dirty="0"/>
              <a:t>STD-008-PTR — Pointer Safety</a:t>
            </a:r>
          </a:p>
          <a:p>
            <a:pPr lvl="0"/>
            <a:r>
              <a:rPr lang="en-US" sz="2000" dirty="0"/>
              <a:t>STD-009-DYN — Dynamic Memory Management</a:t>
            </a:r>
          </a:p>
          <a:p>
            <a:pPr lvl="0"/>
            <a:r>
              <a:rPr lang="en-US" sz="2000" dirty="0"/>
              <a:t>STD-010-RNG — Secure Random Number Generation</a:t>
            </a:r>
          </a:p>
          <a:p>
            <a:pPr lvl="0"/>
            <a:endParaRPr lang="en-US" sz="2000"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017776" y="0"/>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type="body" idx="1"/>
          </p:nvPr>
        </p:nvSpPr>
        <p:spPr>
          <a:xfrm>
            <a:off x="539496" y="1024128"/>
            <a:ext cx="10820400" cy="5303520"/>
          </a:xfrm>
          <a:prstGeom prst="rect">
            <a:avLst/>
          </a:prstGeom>
          <a:noFill/>
          <a:ln>
            <a:noFill/>
          </a:ln>
        </p:spPr>
        <p:txBody>
          <a:bodyPr spcFirstLastPara="1" wrap="square" lIns="91425" tIns="45700" rIns="91425" bIns="45700" anchor="t" anchorCtr="0">
            <a:normAutofit/>
          </a:bodyPr>
          <a:lstStyle/>
          <a:p>
            <a:r>
              <a:rPr lang="en-US" sz="2000" b="1" dirty="0"/>
              <a:t>Encryption in Flight</a:t>
            </a:r>
            <a:endParaRPr lang="en-US" sz="2000" dirty="0"/>
          </a:p>
          <a:p>
            <a:pPr lvl="0"/>
            <a:r>
              <a:rPr lang="en-US" sz="2000" dirty="0"/>
              <a:t>Use TLS to protect data transmitted over networks.</a:t>
            </a:r>
          </a:p>
          <a:p>
            <a:pPr lvl="0"/>
            <a:r>
              <a:rPr lang="en-US" sz="2000" dirty="0"/>
              <a:t>Reject expired, invalid, or untrusted certificates.</a:t>
            </a:r>
          </a:p>
          <a:p>
            <a:pPr lvl="0"/>
            <a:r>
              <a:rPr lang="en-US" sz="2000" dirty="0"/>
              <a:t>Do not transmit sensitive information through unencrypted connections.</a:t>
            </a:r>
          </a:p>
          <a:p>
            <a:r>
              <a:rPr lang="en-US" sz="2000" b="1" dirty="0"/>
              <a:t>Encryption at Rest</a:t>
            </a:r>
            <a:endParaRPr lang="en-US" sz="2000" dirty="0"/>
          </a:p>
          <a:p>
            <a:pPr lvl="0"/>
            <a:r>
              <a:rPr lang="en-US" sz="2000" dirty="0"/>
              <a:t>Encrypt sensitive databases, files, backups, and storage.</a:t>
            </a:r>
          </a:p>
          <a:p>
            <a:pPr lvl="0"/>
            <a:r>
              <a:rPr lang="en-US" sz="2000" dirty="0"/>
              <a:t>Restrict access to encryption keys.</a:t>
            </a:r>
          </a:p>
          <a:p>
            <a:pPr lvl="0"/>
            <a:r>
              <a:rPr lang="en-US" sz="2000" dirty="0"/>
              <a:t>Rotate and protect keys according to policy.</a:t>
            </a:r>
          </a:p>
          <a:p>
            <a:r>
              <a:rPr lang="en-US" sz="2000" b="1" dirty="0"/>
              <a:t>Encryption in Use</a:t>
            </a:r>
            <a:endParaRPr lang="en-US" sz="2000" dirty="0"/>
          </a:p>
          <a:p>
            <a:pPr lvl="0"/>
            <a:r>
              <a:rPr lang="en-US" sz="2000" dirty="0"/>
              <a:t>Limit access to sensitive data while applications process it.</a:t>
            </a:r>
          </a:p>
          <a:p>
            <a:pPr lvl="0"/>
            <a:r>
              <a:rPr lang="en-US" sz="2000" dirty="0"/>
              <a:t>Minimize plaintext exposure in memory.</a:t>
            </a:r>
          </a:p>
          <a:p>
            <a:pPr lvl="0"/>
            <a:r>
              <a:rPr lang="en-US" sz="2000" dirty="0"/>
              <a:t>Use secure execution environments or confidential computing when appropriate.</a:t>
            </a:r>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136648" y="0"/>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1014984"/>
            <a:ext cx="10820400" cy="5203701"/>
          </a:xfrm>
          <a:prstGeom prst="rect">
            <a:avLst/>
          </a:prstGeom>
          <a:noFill/>
          <a:ln>
            <a:noFill/>
          </a:ln>
        </p:spPr>
        <p:txBody>
          <a:bodyPr spcFirstLastPara="1" wrap="square" lIns="91425" tIns="45700" rIns="91425" bIns="45700" anchor="t" anchorCtr="0">
            <a:normAutofit fontScale="92500" lnSpcReduction="10000"/>
          </a:bodyPr>
          <a:lstStyle/>
          <a:p>
            <a:r>
              <a:rPr lang="en-US" sz="2400" b="1" dirty="0"/>
              <a:t>Authentication — Who are you?</a:t>
            </a:r>
            <a:endParaRPr lang="en-US" sz="2400" dirty="0"/>
          </a:p>
          <a:p>
            <a:pPr lvl="0"/>
            <a:r>
              <a:rPr lang="en-US" sz="2400" dirty="0"/>
              <a:t>Require strong passwords and multifactor authentication where appropriate.</a:t>
            </a:r>
          </a:p>
          <a:p>
            <a:pPr lvl="0"/>
            <a:r>
              <a:rPr lang="en-US" sz="2400" dirty="0"/>
              <a:t>Verify user and service identities.</a:t>
            </a:r>
          </a:p>
          <a:p>
            <a:pPr lvl="0"/>
            <a:r>
              <a:rPr lang="en-US" sz="2400" dirty="0"/>
              <a:t>Disable or remove inactive accounts.</a:t>
            </a:r>
          </a:p>
          <a:p>
            <a:r>
              <a:rPr lang="en-US" sz="2400" b="1" dirty="0"/>
              <a:t>Authorization — What can you access?</a:t>
            </a:r>
            <a:endParaRPr lang="en-US" sz="2400" dirty="0"/>
          </a:p>
          <a:p>
            <a:pPr lvl="0"/>
            <a:r>
              <a:rPr lang="en-US" sz="2400" dirty="0"/>
              <a:t>Apply least-privilege permissions.</a:t>
            </a:r>
          </a:p>
          <a:p>
            <a:pPr lvl="0"/>
            <a:r>
              <a:rPr lang="en-US" sz="2400" dirty="0"/>
              <a:t>Use role-based access controls.</a:t>
            </a:r>
          </a:p>
          <a:p>
            <a:pPr lvl="0"/>
            <a:r>
              <a:rPr lang="en-US" sz="2400" dirty="0"/>
              <a:t>Deny access by default unless explicitly approved.</a:t>
            </a:r>
          </a:p>
          <a:p>
            <a:r>
              <a:rPr lang="en-US" sz="2400" b="1" dirty="0"/>
              <a:t>Accounting — What did you do?</a:t>
            </a:r>
            <a:endParaRPr lang="en-US" sz="2400" dirty="0"/>
          </a:p>
          <a:p>
            <a:pPr lvl="0"/>
            <a:r>
              <a:rPr lang="en-US" sz="2400" dirty="0"/>
              <a:t>Record security-relevant events.</a:t>
            </a:r>
          </a:p>
          <a:p>
            <a:pPr lvl="0"/>
            <a:r>
              <a:rPr lang="en-US" sz="2400" dirty="0"/>
              <a:t>Protect logs against unauthorized modification.</a:t>
            </a:r>
          </a:p>
          <a:p>
            <a:pPr lvl="0"/>
            <a:r>
              <a:rPr lang="en-US" sz="2400" dirty="0"/>
              <a:t>Monitor activity and investigate suspicious behavior.</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1524000" y="-7198"/>
            <a:ext cx="8610600" cy="129302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r>
              <a:rPr lang="en-US" sz="2000" b="1" dirty="0"/>
              <a:t>Test Type:</a:t>
            </a:r>
            <a:r>
              <a:rPr lang="en-US" sz="2000" dirty="0"/>
              <a:t> Positive Test</a:t>
            </a:r>
          </a:p>
          <a:p>
            <a:r>
              <a:rPr lang="en-US" sz="2000" b="1" dirty="0"/>
              <a:t>Test Name:</a:t>
            </a:r>
            <a:r>
              <a:rPr lang="en-US" sz="2000" dirty="0"/>
              <a:t> </a:t>
            </a:r>
            <a:r>
              <a:rPr lang="en-US" sz="2000" dirty="0" err="1"/>
              <a:t>CanAddToEmptyVector</a:t>
            </a:r>
            <a:endParaRPr lang="en-US" sz="2000" dirty="0"/>
          </a:p>
          <a:p>
            <a:r>
              <a:rPr lang="en-US" sz="2000" b="1" dirty="0"/>
              <a:t>Test Objective:</a:t>
            </a:r>
            <a:r>
              <a:rPr lang="en-US" sz="2000" dirty="0"/>
              <a:t> Verify that values can be added to an empty std::vector.</a:t>
            </a:r>
          </a:p>
          <a:p>
            <a:r>
              <a:rPr lang="en-US" sz="2000" b="1" dirty="0"/>
              <a:t>Expected Result:</a:t>
            </a:r>
            <a:r>
              <a:rPr lang="en-US" sz="2000" dirty="0"/>
              <a:t> The vector stores the added values and its size increases as expected.</a:t>
            </a:r>
          </a:p>
          <a:p>
            <a:r>
              <a:rPr lang="en-US" sz="2000" b="1" dirty="0"/>
              <a:t>Actual Result:</a:t>
            </a:r>
            <a:r>
              <a:rPr lang="en-US" sz="2000" dirty="0"/>
              <a:t> PASS — the implemented Google Test assertions passed.</a:t>
            </a:r>
          </a:p>
          <a:p>
            <a:r>
              <a:rPr lang="en-US" sz="2000" b="1" dirty="0"/>
              <a:t>Evidence:</a:t>
            </a:r>
            <a:r>
              <a:rPr lang="en-US" sz="2000" dirty="0"/>
              <a:t> Insert the screenshot of the successful Google Test run.</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9766C25B-FBEF-1A51-6EF8-EBEB9E172B7D}"/>
              </a:ext>
            </a:extLst>
          </p:cNvPr>
          <p:cNvPicPr>
            <a:picLocks noChangeAspect="1"/>
          </p:cNvPicPr>
          <p:nvPr/>
        </p:nvPicPr>
        <p:blipFill>
          <a:blip r:embed="rId5"/>
          <a:stretch>
            <a:fillRect/>
          </a:stretch>
        </p:blipFill>
        <p:spPr>
          <a:xfrm>
            <a:off x="5943140" y="2057401"/>
            <a:ext cx="5901387" cy="3547871"/>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1725168" y="-1195"/>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5605272" y="1427326"/>
            <a:ext cx="6365403" cy="505577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E55450C6-FF13-1C37-C366-4C9817BF9E88}"/>
              </a:ext>
            </a:extLst>
          </p:cNvPr>
          <p:cNvSpPr txBox="1"/>
          <p:nvPr/>
        </p:nvSpPr>
        <p:spPr>
          <a:xfrm>
            <a:off x="0" y="1427326"/>
            <a:ext cx="5383946" cy="3108543"/>
          </a:xfrm>
          <a:prstGeom prst="rect">
            <a:avLst/>
          </a:prstGeom>
          <a:noFill/>
        </p:spPr>
        <p:txBody>
          <a:bodyPr wrap="square" rtlCol="0">
            <a:spAutoFit/>
          </a:bodyPr>
          <a:lstStyle/>
          <a:p>
            <a:r>
              <a:rPr lang="en-US" b="1" dirty="0">
                <a:solidFill>
                  <a:schemeClr val="bg1"/>
                </a:solidFill>
              </a:rPr>
              <a:t>How Security Automation Works</a:t>
            </a:r>
            <a:endParaRPr lang="en-US" dirty="0">
              <a:solidFill>
                <a:schemeClr val="bg1"/>
              </a:solidFill>
            </a:endParaRPr>
          </a:p>
          <a:p>
            <a:pPr lvl="0"/>
            <a:r>
              <a:rPr lang="en-US" b="1" dirty="0">
                <a:solidFill>
                  <a:schemeClr val="bg1"/>
                </a:solidFill>
              </a:rPr>
              <a:t>Static Analysis:</a:t>
            </a:r>
            <a:r>
              <a:rPr lang="en-US" dirty="0">
                <a:solidFill>
                  <a:schemeClr val="bg1"/>
                </a:solidFill>
              </a:rPr>
              <a:t> </a:t>
            </a:r>
            <a:r>
              <a:rPr lang="en-US" dirty="0" err="1">
                <a:solidFill>
                  <a:schemeClr val="bg1"/>
                </a:solidFill>
              </a:rPr>
              <a:t>Cppcheck</a:t>
            </a:r>
            <a:r>
              <a:rPr lang="en-US" dirty="0">
                <a:solidFill>
                  <a:schemeClr val="bg1"/>
                </a:solidFill>
              </a:rPr>
              <a:t> scans source code for potential vulnerabilities.</a:t>
            </a:r>
          </a:p>
          <a:p>
            <a:pPr lvl="0"/>
            <a:r>
              <a:rPr lang="en-US" b="1" dirty="0">
                <a:solidFill>
                  <a:schemeClr val="bg1"/>
                </a:solidFill>
              </a:rPr>
              <a:t>Compiler Warnings:</a:t>
            </a:r>
            <a:r>
              <a:rPr lang="en-US" dirty="0">
                <a:solidFill>
                  <a:schemeClr val="bg1"/>
                </a:solidFill>
              </a:rPr>
              <a:t> Visual Studio identifies potential coding errors during compilation.</a:t>
            </a:r>
          </a:p>
          <a:p>
            <a:pPr lvl="0"/>
            <a:r>
              <a:rPr lang="en-US" b="1" dirty="0">
                <a:solidFill>
                  <a:schemeClr val="bg1"/>
                </a:solidFill>
              </a:rPr>
              <a:t>Automated Unit Testing:</a:t>
            </a:r>
            <a:r>
              <a:rPr lang="en-US" dirty="0">
                <a:solidFill>
                  <a:schemeClr val="bg1"/>
                </a:solidFill>
              </a:rPr>
              <a:t> Google Test verifies expected behavior using positive and negative tests.</a:t>
            </a:r>
          </a:p>
          <a:p>
            <a:pPr lvl="0"/>
            <a:r>
              <a:rPr lang="en-US" b="1" dirty="0">
                <a:solidFill>
                  <a:schemeClr val="bg1"/>
                </a:solidFill>
              </a:rPr>
              <a:t>Continuous Testing:</a:t>
            </a:r>
            <a:r>
              <a:rPr lang="en-US" dirty="0">
                <a:solidFill>
                  <a:schemeClr val="bg1"/>
                </a:solidFill>
              </a:rPr>
              <a:t> Security checks are repeated after code changes to identify new problems.</a:t>
            </a:r>
          </a:p>
          <a:p>
            <a:pPr lvl="0"/>
            <a:r>
              <a:rPr lang="en-US" b="1" dirty="0">
                <a:solidFill>
                  <a:schemeClr val="bg1"/>
                </a:solidFill>
              </a:rPr>
              <a:t>Manual Review:</a:t>
            </a:r>
            <a:r>
              <a:rPr lang="en-US" dirty="0">
                <a:solidFill>
                  <a:schemeClr val="bg1"/>
                </a:solidFill>
              </a:rPr>
              <a:t> Developers investigate findings and address issues automated tools may miss.</a:t>
            </a:r>
          </a:p>
          <a:p>
            <a:r>
              <a:rPr lang="en-US" b="1" dirty="0">
                <a:solidFill>
                  <a:schemeClr val="bg1"/>
                </a:solidFill>
              </a:rPr>
              <a:t>Goal:</a:t>
            </a:r>
            <a:r>
              <a:rPr lang="en-US" dirty="0">
                <a:solidFill>
                  <a:schemeClr val="bg1"/>
                </a:solidFill>
              </a:rPr>
              <a:t> Identify and fix vulnerabilities early, consistently, and efficiently.</a:t>
            </a:r>
          </a:p>
          <a:p>
            <a:endParaRPr lang="en-US" dirty="0">
              <a:solidFill>
                <a:schemeClr val="bg1"/>
              </a:solidFill>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1644396" y="18288"/>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r>
              <a:rPr lang="en-US" b="1" dirty="0" err="1"/>
              <a:t>DevSecOps</a:t>
            </a:r>
            <a:r>
              <a:rPr lang="en-US" b="1" dirty="0"/>
              <a:t> Pipeline</a:t>
            </a:r>
            <a:endParaRPr lang="en-US" dirty="0"/>
          </a:p>
          <a:p>
            <a:pPr lvl="0"/>
            <a:r>
              <a:rPr lang="en-US" b="1" dirty="0"/>
              <a:t>Develop:</a:t>
            </a:r>
            <a:r>
              <a:rPr lang="en-US" dirty="0"/>
              <a:t> Follow secure coding standards in Visual Studio.</a:t>
            </a:r>
          </a:p>
          <a:p>
            <a:pPr lvl="0"/>
            <a:r>
              <a:rPr lang="en-US" b="1" dirty="0"/>
              <a:t>Build:</a:t>
            </a:r>
            <a:r>
              <a:rPr lang="en-US" dirty="0"/>
              <a:t> Compile and review compiler warnings.</a:t>
            </a:r>
          </a:p>
          <a:p>
            <a:pPr lvl="0"/>
            <a:r>
              <a:rPr lang="en-US" b="1" dirty="0"/>
              <a:t>Analyze:</a:t>
            </a:r>
            <a:r>
              <a:rPr lang="en-US" dirty="0"/>
              <a:t> Run </a:t>
            </a:r>
            <a:r>
              <a:rPr lang="en-US" dirty="0" err="1"/>
              <a:t>Cppcheck</a:t>
            </a:r>
            <a:r>
              <a:rPr lang="en-US" dirty="0"/>
              <a:t> and review static-analysis findings.</a:t>
            </a:r>
          </a:p>
          <a:p>
            <a:pPr lvl="0"/>
            <a:r>
              <a:rPr lang="en-US" b="1" dirty="0"/>
              <a:t>Test:</a:t>
            </a:r>
            <a:r>
              <a:rPr lang="en-US" dirty="0"/>
              <a:t> Execute unit tests and controlled security tests.</a:t>
            </a:r>
          </a:p>
          <a:p>
            <a:pPr lvl="0"/>
            <a:r>
              <a:rPr lang="en-US" b="1" dirty="0"/>
              <a:t>Release:</a:t>
            </a:r>
            <a:r>
              <a:rPr lang="en-US" dirty="0"/>
              <a:t> Review results and resolve critical findings.</a:t>
            </a:r>
          </a:p>
          <a:p>
            <a:pPr lvl="0"/>
            <a:r>
              <a:rPr lang="en-US" b="1" dirty="0"/>
              <a:t>Operate:</a:t>
            </a:r>
            <a:r>
              <a:rPr lang="en-US" dirty="0"/>
              <a:t> Monitor logs, investigate incidents, and update dependencies.</a:t>
            </a:r>
          </a:p>
          <a:p>
            <a:r>
              <a:rPr lang="en-US" b="1" dirty="0"/>
              <a:t>External Tools</a:t>
            </a:r>
            <a:endParaRPr lang="en-US" dirty="0"/>
          </a:p>
          <a:p>
            <a:pPr lvl="0"/>
            <a:r>
              <a:rPr lang="en-US" dirty="0"/>
              <a:t>Visual Studio compiler and Error List</a:t>
            </a:r>
          </a:p>
          <a:p>
            <a:pPr lvl="0"/>
            <a:r>
              <a:rPr lang="en-US" dirty="0" err="1"/>
              <a:t>Cppcheck</a:t>
            </a:r>
            <a:r>
              <a:rPr lang="en-US" dirty="0"/>
              <a:t> static analyzer</a:t>
            </a:r>
          </a:p>
          <a:p>
            <a:pPr lvl="0"/>
            <a:r>
              <a:rPr lang="en-US" dirty="0"/>
              <a:t>C++ unit-testing framework</a:t>
            </a:r>
          </a:p>
          <a:p>
            <a:pPr lvl="0"/>
            <a:r>
              <a:rPr lang="en-US" dirty="0"/>
              <a:t>Version control and automated build pipeline</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1790700" y="-7199"/>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r>
              <a:rPr lang="en-US" sz="2000" b="1" dirty="0"/>
              <a:t>Act Now</a:t>
            </a:r>
            <a:endParaRPr lang="en-US" sz="2000" dirty="0"/>
          </a:p>
          <a:p>
            <a:pPr lvl="0"/>
            <a:r>
              <a:rPr lang="en-US" sz="2000" dirty="0"/>
              <a:t>Fix high-priority vulnerabilities before release.</a:t>
            </a:r>
          </a:p>
          <a:p>
            <a:pPr lvl="0"/>
            <a:r>
              <a:rPr lang="en-US" sz="2000" dirty="0"/>
              <a:t>Reduce the likelihood of data exposure and service disruption.</a:t>
            </a:r>
          </a:p>
          <a:p>
            <a:pPr lvl="0"/>
            <a:r>
              <a:rPr lang="en-US" sz="2000" dirty="0"/>
              <a:t>Establish repeatable security testing.</a:t>
            </a:r>
          </a:p>
          <a:p>
            <a:r>
              <a:rPr lang="en-US" sz="2000" b="1" dirty="0"/>
              <a:t>Wait</a:t>
            </a:r>
            <a:endParaRPr lang="en-US" sz="2000" dirty="0"/>
          </a:p>
          <a:p>
            <a:pPr lvl="0"/>
            <a:r>
              <a:rPr lang="en-US" sz="2000" dirty="0"/>
              <a:t>Existing vulnerabilities may remain exploitable.</a:t>
            </a:r>
          </a:p>
          <a:p>
            <a:pPr lvl="0"/>
            <a:r>
              <a:rPr lang="en-US" sz="2000" dirty="0"/>
              <a:t>Remediation may become more expensive.</a:t>
            </a:r>
          </a:p>
          <a:p>
            <a:pPr lvl="0"/>
            <a:r>
              <a:rPr lang="en-US" sz="2000" dirty="0"/>
              <a:t>A security incident could damage customer trust.</a:t>
            </a:r>
          </a:p>
          <a:p>
            <a:r>
              <a:rPr lang="en-US" sz="2000" b="1" dirty="0"/>
              <a:t>Strategy Gaps and Risks</a:t>
            </a:r>
            <a:endParaRPr lang="en-US" sz="2000" dirty="0"/>
          </a:p>
          <a:p>
            <a:pPr lvl="0"/>
            <a:r>
              <a:rPr lang="en-US" sz="2000" dirty="0"/>
              <a:t>Static analysis can produce false positives and miss runtime problems.</a:t>
            </a:r>
          </a:p>
          <a:p>
            <a:pPr lvl="0"/>
            <a:r>
              <a:rPr lang="en-US" sz="2000" dirty="0"/>
              <a:t>Unit tests only cover the scenarios that are tested.</a:t>
            </a:r>
          </a:p>
          <a:p>
            <a:pPr lvl="0"/>
            <a:r>
              <a:rPr lang="en-US" sz="2000" dirty="0"/>
              <a:t>Encryption and access controls require correct configuration and key management.</a:t>
            </a:r>
          </a:p>
          <a:p>
            <a:pPr lvl="0"/>
            <a:r>
              <a:rPr lang="en-US" sz="2000" dirty="0"/>
              <a:t>Tools need maintenance, review, and integration.</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1624584" y="0"/>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b="1" dirty="0"/>
              <a:t>Security Policy Gaps</a:t>
            </a:r>
            <a:endParaRPr lang="en-US" dirty="0"/>
          </a:p>
          <a:p>
            <a:pPr lvl="0"/>
            <a:r>
              <a:rPr lang="en-US" dirty="0"/>
              <a:t>Define measurable remediation deadlines based on severity.</a:t>
            </a:r>
          </a:p>
          <a:p>
            <a:pPr lvl="0"/>
            <a:r>
              <a:rPr lang="en-US" dirty="0"/>
              <a:t>Specify approved encryption protocols and key-management procedures.</a:t>
            </a:r>
          </a:p>
          <a:p>
            <a:pPr lvl="0"/>
            <a:r>
              <a:rPr lang="en-US" dirty="0"/>
              <a:t>Document account reviews and access-removal procedures.</a:t>
            </a:r>
          </a:p>
          <a:p>
            <a:pPr lvl="0"/>
            <a:r>
              <a:rPr lang="en-US" dirty="0"/>
              <a:t>Require security checks in the build and release pipeline.</a:t>
            </a:r>
          </a:p>
          <a:p>
            <a:pPr lvl="0"/>
            <a:r>
              <a:rPr lang="en-US" dirty="0"/>
              <a:t>Establish procedures for reviewing false positives and accepting residual risk.</a:t>
            </a:r>
          </a:p>
          <a:p>
            <a:pPr lvl="0"/>
            <a:r>
              <a:rPr lang="en-US" dirty="0"/>
              <a:t>Define ongoing monitoring, incident response, and policy review responsibilities.</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1551432" y="-7199"/>
            <a:ext cx="8610600" cy="12930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b="1" dirty="0"/>
              <a:t>Standards to Prevent Future Problems</a:t>
            </a:r>
            <a:endParaRPr lang="en-US" dirty="0"/>
          </a:p>
          <a:p>
            <a:pPr lvl="0"/>
            <a:r>
              <a:rPr lang="en-US" dirty="0"/>
              <a:t>Follow the ten secure coding standards.</a:t>
            </a:r>
          </a:p>
          <a:p>
            <a:pPr lvl="0"/>
            <a:r>
              <a:rPr lang="en-US" dirty="0"/>
              <a:t>Apply CERT C++ secure coding guidance.</a:t>
            </a:r>
          </a:p>
          <a:p>
            <a:pPr lvl="0"/>
            <a:r>
              <a:rPr lang="en-US" dirty="0"/>
              <a:t>Use OWASP SQL injection prevention practices.</a:t>
            </a:r>
          </a:p>
          <a:p>
            <a:pPr lvl="0"/>
            <a:r>
              <a:rPr lang="en-US" dirty="0"/>
              <a:t>Align secure development processes with the NIST Secure Software Development Framework.</a:t>
            </a:r>
          </a:p>
          <a:p>
            <a:pPr lvl="0"/>
            <a:r>
              <a:rPr lang="en-US" dirty="0"/>
              <a:t>Require code review, static analysis, unit testing, and ongoing monitoring.</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r>
              <a:rPr lang="en-US" dirty="0" err="1"/>
              <a:t>Cppcheck</a:t>
            </a:r>
            <a:r>
              <a:rPr lang="en-US" dirty="0"/>
              <a:t>. (n.d.). </a:t>
            </a:r>
            <a:r>
              <a:rPr lang="en-US" i="1" dirty="0" err="1"/>
              <a:t>Cppcheck</a:t>
            </a:r>
            <a:r>
              <a:rPr lang="en-US" i="1" dirty="0"/>
              <a:t> manual</a:t>
            </a:r>
            <a:r>
              <a:rPr lang="en-US" dirty="0"/>
              <a:t>. </a:t>
            </a:r>
            <a:r>
              <a:rPr lang="en-US" dirty="0">
                <a:hlinkClick r:id="rId4"/>
              </a:rPr>
              <a:t>https://cppcheck.sourceforge.io/manual.html</a:t>
            </a:r>
            <a:endParaRPr lang="en-US" dirty="0"/>
          </a:p>
          <a:p>
            <a:r>
              <a:rPr lang="en-US" dirty="0"/>
              <a:t>National Institute of Standards and Technology. (2022). </a:t>
            </a:r>
            <a:r>
              <a:rPr lang="en-US" i="1" dirty="0"/>
              <a:t>Secure software development framework (SSDF) version 1.1: Recommendations for mitigating the risk of software vulnerabilities</a:t>
            </a:r>
            <a:r>
              <a:rPr lang="en-US" dirty="0"/>
              <a:t> (SP 800-218). </a:t>
            </a:r>
            <a:r>
              <a:rPr lang="en-US" dirty="0">
                <a:hlinkClick r:id="rId5"/>
              </a:rPr>
              <a:t>https://doi.org/10.6028/NIST.SP.800-218</a:t>
            </a:r>
            <a:endParaRPr lang="en-US" dirty="0"/>
          </a:p>
          <a:p>
            <a:r>
              <a:rPr lang="en-US" dirty="0"/>
              <a:t>OWASP Foundation. (n.d.). </a:t>
            </a:r>
            <a:r>
              <a:rPr lang="en-US" i="1" dirty="0"/>
              <a:t>SQL injection prevention cheat sheet</a:t>
            </a:r>
            <a:r>
              <a:rPr lang="en-US" dirty="0"/>
              <a:t>. </a:t>
            </a:r>
            <a:r>
              <a:rPr lang="en-US" dirty="0">
                <a:hlinkClick r:id="rId6"/>
              </a:rPr>
              <a:t>https://cheatsheetseries.owasp.org/cheatsheets/SQL_Injection_Prevention_Cheat_Sheet.html</a:t>
            </a:r>
            <a:endParaRPr lang="en-US" dirty="0"/>
          </a:p>
          <a:p>
            <a:r>
              <a:rPr lang="en-US" dirty="0"/>
              <a:t>U.S. Government Accountability Office. (2018). </a:t>
            </a:r>
            <a:r>
              <a:rPr lang="en-US" i="1" dirty="0"/>
              <a:t>Data protection: Actions taken by Equifax and federal agencies in response to the 2017 breach</a:t>
            </a:r>
            <a:r>
              <a:rPr lang="en-US" dirty="0"/>
              <a:t> (GAO-18-559). </a:t>
            </a:r>
            <a:r>
              <a:rPr lang="en-US" dirty="0">
                <a:hlinkClick r:id="rId7"/>
              </a:rPr>
              <a:t>https://www.gao.gov/products/gao-18-559</a:t>
            </a:r>
            <a:endParaRPr lang="en-US" dirty="0"/>
          </a:p>
          <a:p>
            <a:r>
              <a:rPr lang="en-US" dirty="0"/>
              <a:t>SEI CERT. (n.d.). </a:t>
            </a:r>
            <a:r>
              <a:rPr lang="en-US" i="1" dirty="0"/>
              <a:t>SEI CERT C++ coding standard</a:t>
            </a:r>
            <a:r>
              <a:rPr lang="en-US" dirty="0"/>
              <a:t>. Carnegie Mellon University Software Engineering Institute. </a:t>
            </a:r>
            <a:r>
              <a:rPr lang="en-US" dirty="0">
                <a:hlinkClick r:id="rId8"/>
              </a:rPr>
              <a:t>https://wiki.sei.cmu.edu/confluence/display/cplusplus/SEI+CERT+C%2B%2B+Coding+Standard</a:t>
            </a:r>
            <a:endParaRPr lang="en-US" dirty="0"/>
          </a:p>
        </p:txBody>
      </p:sp>
      <p:pic>
        <p:nvPicPr>
          <p:cNvPr id="239" name="Google Shape;239;p14" descr="Green Pace logo"/>
          <p:cNvPicPr preferRelativeResize="0"/>
          <p:nvPr/>
        </p:nvPicPr>
        <p:blipFill>
          <a:blip r:embed="rId9">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70</TotalTime>
  <Words>1190</Words>
  <Application>Microsoft Office PowerPoint</Application>
  <PresentationFormat>Widescreen</PresentationFormat>
  <Paragraphs>189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Robert wheeler</cp:lastModifiedBy>
  <cp:revision>8</cp:revision>
  <dcterms:created xsi:type="dcterms:W3CDTF">2020-08-19T17:59:24Z</dcterms:created>
  <dcterms:modified xsi:type="dcterms:W3CDTF">2026-10-13T19:27:01Z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